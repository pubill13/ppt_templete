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current_final/batch 설비 기본 구조 및 Batch 투입 대기 기능 기본 설명.txt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실설비 UI 캡처 삽입 순서</a:t>
            </a:r>
          </a:p>
          <a:p>
            <a:r>
              <a:t>1. CJ Start / ExecuteWaiting / Wait Time</a:t>
            </a:r>
          </a:p>
          <a:p>
            <a:r>
              <a:t>2. Executing 전환 / STR FOUP 반송</a:t>
            </a:r>
          </a:p>
          <a:p>
            <a:r>
              <a:t>3. 잔여시간 예측 기반 후행 Batch 선행 투입</a:t>
            </a:r>
          </a:p>
          <a:p>
            <a:r>
              <a:t>4. 마지막 POS 완료와 Dipping Buffer 배출 완료 정렬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current_final/batch 설비 기본 구조 및 Batch 투입 대기 기능 기본 설명.txt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current_final/batch 설비 기본 구조 및 Batch 투입 대기 기능 기본 설명.txt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current_final/batch 설비 기본 구조 및 Batch 투입 대기 기능 기본 설명.txt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4618FE9-F814-49F6-BC6B-3681A0B12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52DE2-4B5D-4AB4-81B5-DC201F704D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01 시나리오</a:t>
            </a:r>
            <a:endParaRPr sz="975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27B722-62A8-4588-BD4B-3C717366A25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09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선행의 Dipping Buffer 배출 완료에 맞춰 후행의 Batch 종료를 정렬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88A666-A0AE-425B-B27A-5B84D459B45A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00100" cy="381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43D85-52FD-4351-99F6-E28F2151C202}"/>
              </a:ext>
            </a:extLst>
          </p:cNvPr>
          <p:cNvSpPr>
            <a:spLocks noGrp="1"/>
          </p:cNvSpPr>
          <p:nvPr/>
        </p:nvSpPr>
        <p:spPr>
          <a:xfrm>
            <a:off x="685800" y="1429905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Dipping Buffer 배출 완료 시점에 후행 Batch 종료 시점을 동기화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515AE-3414-4773-A8B2-88FEA79435CA}"/>
              </a:ext>
            </a:extLst>
          </p:cNvPr>
          <p:cNvSpPr>
            <a:spLocks noGrp="1"/>
          </p:cNvSpPr>
          <p:nvPr/>
        </p:nvSpPr>
        <p:spPr>
          <a:xfrm>
            <a:off x="1466850" y="2208643"/>
            <a:ext cx="8934450" cy="19050"/>
          </a:xfrm>
          <a:prstGeom prst="rect">
            <a:avLst/>
          </a:prstGeom>
          <a:solidFill>
            <a:srgbClr val="C8D6E0"/>
          </a:solidFill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997227-977B-4CE7-B99F-3456C8389C1B}"/>
              </a:ext>
            </a:extLst>
          </p:cNvPr>
          <p:cNvSpPr>
            <a:spLocks noGrp="1"/>
          </p:cNvSpPr>
          <p:nvPr/>
        </p:nvSpPr>
        <p:spPr>
          <a:xfrm>
            <a:off x="1439142" y="2094343"/>
            <a:ext cx="19050" cy="2552700"/>
          </a:xfrm>
          <a:prstGeom prst="rect">
            <a:avLst/>
          </a:prstGeom>
          <a:solidFill>
            <a:srgbClr val="4E7897"/>
          </a:solidFill>
          <a:ln w="9525">
            <a:solidFill>
              <a:srgbClr val="4E78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FAEB32-36DA-4789-8820-3EDF630FB7CD}"/>
              </a:ext>
            </a:extLst>
          </p:cNvPr>
          <p:cNvSpPr>
            <a:spLocks noGrp="1"/>
          </p:cNvSpPr>
          <p:nvPr/>
        </p:nvSpPr>
        <p:spPr>
          <a:xfrm>
            <a:off x="5057486" y="2684893"/>
            <a:ext cx="19050" cy="1962150"/>
          </a:xfrm>
          <a:prstGeom prst="rect">
            <a:avLst/>
          </a:prstGeom>
          <a:solidFill>
            <a:srgbClr val="E07A2D"/>
          </a:solidFill>
          <a:ln w="9525">
            <a:solidFill>
              <a:srgbClr val="E07A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90B78E-FAAA-488F-9ABB-A25A188B8D69}"/>
              </a:ext>
            </a:extLst>
          </p:cNvPr>
          <p:cNvSpPr>
            <a:spLocks noGrp="1"/>
          </p:cNvSpPr>
          <p:nvPr/>
        </p:nvSpPr>
        <p:spPr>
          <a:xfrm>
            <a:off x="10410536" y="2094343"/>
            <a:ext cx="28575" cy="2552700"/>
          </a:xfrm>
          <a:prstGeom prst="rect">
            <a:avLst/>
          </a:prstGeom>
          <a:solidFill>
            <a:srgbClr val="2F7653"/>
          </a:solidFill>
          <a:ln w="9525">
            <a:solidFill>
              <a:srgbClr val="2F76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452A0-86C0-4B9D-94B5-0D38D93EC62A}"/>
              </a:ext>
            </a:extLst>
          </p:cNvPr>
          <p:cNvSpPr>
            <a:spLocks noGrp="1"/>
          </p:cNvSpPr>
          <p:nvPr/>
        </p:nvSpPr>
        <p:spPr>
          <a:xfrm>
            <a:off x="1181389" y="1912788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9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현재</a:t>
            </a:r>
            <a:endParaRPr sz="90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9F2A89-CCCD-43EA-BE04-FD42838B03A7}"/>
              </a:ext>
            </a:extLst>
          </p:cNvPr>
          <p:cNvSpPr>
            <a:spLocks noGrp="1"/>
          </p:cNvSpPr>
          <p:nvPr/>
        </p:nvSpPr>
        <p:spPr>
          <a:xfrm>
            <a:off x="4905086" y="4455676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0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후행 Job 출발</a:t>
            </a:r>
            <a:endParaRPr sz="975" b="1">
              <a:solidFill>
                <a:srgbClr val="E07A2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FE5B2-4A91-41D3-9614-C6BFFFDEA7FA}"/>
              </a:ext>
            </a:extLst>
          </p:cNvPr>
          <p:cNvSpPr>
            <a:spLocks noGrp="1"/>
          </p:cNvSpPr>
          <p:nvPr/>
        </p:nvSpPr>
        <p:spPr>
          <a:xfrm>
            <a:off x="9924472" y="191712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97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동기화 시점</a:t>
            </a:r>
            <a:endParaRPr sz="900" b="1">
              <a:solidFill>
                <a:srgbClr val="2F765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3052C-6665-4AAB-9A58-14D9DF2D0E86}"/>
              </a:ext>
            </a:extLst>
          </p:cNvPr>
          <p:cNvSpPr>
            <a:spLocks noGrp="1"/>
          </p:cNvSpPr>
          <p:nvPr/>
        </p:nvSpPr>
        <p:spPr>
          <a:xfrm>
            <a:off x="685800" y="2513442"/>
            <a:ext cx="8382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 Job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36559E0-5B6E-4506-B67B-F8380B66A893}"/>
              </a:ext>
            </a:extLst>
          </p:cNvPr>
          <p:cNvSpPr>
            <a:spLocks noGrp="1"/>
          </p:cNvSpPr>
          <p:nvPr/>
        </p:nvSpPr>
        <p:spPr>
          <a:xfrm>
            <a:off x="1466850" y="2380093"/>
            <a:ext cx="2095500" cy="514350"/>
          </a:xfrm>
          <a:prstGeom prst="roundRect">
            <a:avLst>
              <a:gd name="adj" fmla="val 11111"/>
            </a:avLst>
          </a:prstGeom>
          <a:solidFill>
            <a:srgbClr val="DDE9F1"/>
          </a:solidFill>
          <a:ln w="9525">
            <a:solidFill>
              <a:srgbClr val="DDE9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3AE882-8D56-4BB0-920A-E5440E7AAD17}"/>
              </a:ext>
            </a:extLst>
          </p:cNvPr>
          <p:cNvSpPr>
            <a:spLocks noGrp="1"/>
          </p:cNvSpPr>
          <p:nvPr/>
        </p:nvSpPr>
        <p:spPr>
          <a:xfrm>
            <a:off x="1562100" y="2456293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05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In Buffer</a:t>
            </a:r>
          </a:p>
          <a:p>
            <a:pPr algn="ctr">
              <a:buNone/>
              <a:defRPr sz="105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적재 잔여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9C6A07-2676-4CEC-96CF-BBD3F25B002A}"/>
              </a:ext>
            </a:extLst>
          </p:cNvPr>
          <p:cNvSpPr>
            <a:spLocks noGrp="1"/>
          </p:cNvSpPr>
          <p:nvPr/>
        </p:nvSpPr>
        <p:spPr>
          <a:xfrm>
            <a:off x="3619500" y="2380093"/>
            <a:ext cx="2238375" cy="514350"/>
          </a:xfrm>
          <a:prstGeom prst="roundRect">
            <a:avLst>
              <a:gd name="adj" fmla="val 11111"/>
            </a:avLst>
          </a:prstGeom>
          <a:solidFill>
            <a:srgbClr val="C9DBE7"/>
          </a:solidFill>
          <a:ln w="9525">
            <a:solidFill>
              <a:srgbClr val="C9DB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950E0A-36A7-4A2E-A1FE-04987104EB03}"/>
              </a:ext>
            </a:extLst>
          </p:cNvPr>
          <p:cNvSpPr>
            <a:spLocks noGrp="1"/>
          </p:cNvSpPr>
          <p:nvPr/>
        </p:nvSpPr>
        <p:spPr>
          <a:xfrm>
            <a:off x="3733800" y="2532493"/>
            <a:ext cx="2009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125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Batch 공정 잔여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051CE74-0926-4AF6-9556-65FEE0E85D02}"/>
              </a:ext>
            </a:extLst>
          </p:cNvPr>
          <p:cNvSpPr>
            <a:spLocks noGrp="1"/>
          </p:cNvSpPr>
          <p:nvPr/>
        </p:nvSpPr>
        <p:spPr>
          <a:xfrm>
            <a:off x="5915025" y="2380093"/>
            <a:ext cx="4486275" cy="514350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B59B36-D816-4664-B3B4-EC09A440BA8B}"/>
              </a:ext>
            </a:extLst>
          </p:cNvPr>
          <p:cNvSpPr>
            <a:spLocks noGrp="1"/>
          </p:cNvSpPr>
          <p:nvPr/>
        </p:nvSpPr>
        <p:spPr>
          <a:xfrm>
            <a:off x="6029325" y="2532493"/>
            <a:ext cx="4257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Dipping Buffer 배출 잔여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B7F13A-4701-41AC-8E91-6125D62A2C31}"/>
              </a:ext>
            </a:extLst>
          </p:cNvPr>
          <p:cNvSpPr>
            <a:spLocks noGrp="1"/>
          </p:cNvSpPr>
          <p:nvPr/>
        </p:nvSpPr>
        <p:spPr>
          <a:xfrm>
            <a:off x="685800" y="3351643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후행 Job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A97566-00B4-4182-B05A-6927F48A829E}"/>
              </a:ext>
            </a:extLst>
          </p:cNvPr>
          <p:cNvSpPr>
            <a:spLocks noGrp="1"/>
          </p:cNvSpPr>
          <p:nvPr/>
        </p:nvSpPr>
        <p:spPr>
          <a:xfrm>
            <a:off x="1466850" y="3199243"/>
            <a:ext cx="3581400" cy="552450"/>
          </a:xfrm>
          <a:prstGeom prst="roundRect">
            <a:avLst>
              <a:gd name="adj" fmla="val 10345"/>
            </a:avLst>
          </a:prstGeom>
          <a:solidFill>
            <a:srgbClr val="183F63"/>
          </a:solidFill>
          <a:ln w="9525">
            <a:solidFill>
              <a:srgbClr val="183F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C5FB05-B99E-4B30-81CF-7B4F649B74B6}"/>
              </a:ext>
            </a:extLst>
          </p:cNvPr>
          <p:cNvSpPr>
            <a:spLocks noGrp="1"/>
          </p:cNvSpPr>
          <p:nvPr/>
        </p:nvSpPr>
        <p:spPr>
          <a:xfrm>
            <a:off x="1600200" y="3370693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투입 대기시간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592039-79C8-4FBE-A2A1-0E4095E6553F}"/>
              </a:ext>
            </a:extLst>
          </p:cNvPr>
          <p:cNvSpPr>
            <a:spLocks noGrp="1"/>
          </p:cNvSpPr>
          <p:nvPr/>
        </p:nvSpPr>
        <p:spPr>
          <a:xfrm>
            <a:off x="5105400" y="3199243"/>
            <a:ext cx="2038350" cy="552450"/>
          </a:xfrm>
          <a:prstGeom prst="roundRect">
            <a:avLst>
              <a:gd name="adj" fmla="val 10345"/>
            </a:avLst>
          </a:prstGeom>
          <a:solidFill>
            <a:srgbClr val="E8F0F5"/>
          </a:solidFill>
          <a:ln w="9525">
            <a:solidFill>
              <a:srgbClr val="E8F0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DC167-8742-4DFB-95BD-A2155B22F1D0}"/>
              </a:ext>
            </a:extLst>
          </p:cNvPr>
          <p:cNvSpPr>
            <a:spLocks noGrp="1"/>
          </p:cNvSpPr>
          <p:nvPr/>
        </p:nvSpPr>
        <p:spPr>
          <a:xfrm>
            <a:off x="5219700" y="3305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20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② 후행 Job 준비시간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FBB19C-B826-4FF2-80AE-478969ECAF79}"/>
              </a:ext>
            </a:extLst>
          </p:cNvPr>
          <p:cNvSpPr>
            <a:spLocks noGrp="1"/>
          </p:cNvSpPr>
          <p:nvPr/>
        </p:nvSpPr>
        <p:spPr>
          <a:xfrm>
            <a:off x="7200900" y="3199243"/>
            <a:ext cx="3200400" cy="552450"/>
          </a:xfrm>
          <a:prstGeom prst="roundRect">
            <a:avLst>
              <a:gd name="adj" fmla="val 10345"/>
            </a:avLst>
          </a:prstGeom>
          <a:solidFill>
            <a:srgbClr val="C9DBE7"/>
          </a:solidFill>
          <a:ln w="9525">
            <a:solidFill>
              <a:srgbClr val="C9DB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2197FA-75A4-43A7-A4D8-8575C79E7B55}"/>
              </a:ext>
            </a:extLst>
          </p:cNvPr>
          <p:cNvSpPr>
            <a:spLocks noGrp="1"/>
          </p:cNvSpPr>
          <p:nvPr/>
        </p:nvSpPr>
        <p:spPr>
          <a:xfrm>
            <a:off x="7315200" y="3333750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③ 후행 Batch 공정시간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C26C10-7CBC-44F5-A7E2-923684E8D74C}"/>
              </a:ext>
            </a:extLst>
          </p:cNvPr>
          <p:cNvSpPr>
            <a:spLocks noGrp="1"/>
          </p:cNvSpPr>
          <p:nvPr/>
        </p:nvSpPr>
        <p:spPr>
          <a:xfrm>
            <a:off x="4514850" y="3980307"/>
            <a:ext cx="588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r">
              <a:buNone/>
              <a:defRPr sz="10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동기화 시점에서 후행 Job 실행시간을 역산하면 출발 시점이 결정</a:t>
            </a:r>
            <a:endParaRPr sz="105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7EF109-4A31-45A3-A035-BFF33D718ACF}"/>
              </a:ext>
            </a:extLst>
          </p:cNvPr>
          <p:cNvSpPr>
            <a:spLocks noGrp="1"/>
          </p:cNvSpPr>
          <p:nvPr/>
        </p:nvSpPr>
        <p:spPr>
          <a:xfrm>
            <a:off x="685800" y="5223701"/>
            <a:ext cx="10820400" cy="781050"/>
          </a:xfrm>
          <a:prstGeom prst="roundRect">
            <a:avLst>
              <a:gd name="adj" fmla="val 7317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782E9E-6C8D-4F2B-BC6E-61BABF820775}"/>
              </a:ext>
            </a:extLst>
          </p:cNvPr>
          <p:cNvSpPr>
            <a:spLocks noGrp="1"/>
          </p:cNvSpPr>
          <p:nvPr/>
        </p:nvSpPr>
        <p:spPr>
          <a:xfrm>
            <a:off x="895350" y="52959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투입 대기시간</a:t>
            </a:r>
            <a:endParaRPr sz="1500" b="1">
              <a:solidFill>
                <a:srgbClr val="102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5B2815-4800-4A16-95EC-D51178A904BD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=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18A97-004F-449B-85EF-99664D19992D}"/>
              </a:ext>
            </a:extLst>
          </p:cNvPr>
          <p:cNvSpPr>
            <a:spLocks noGrp="1"/>
          </p:cNvSpPr>
          <p:nvPr/>
        </p:nvSpPr>
        <p:spPr>
          <a:xfrm>
            <a:off x="2609850" y="5295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① 선행 Job 잔여시간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28A29-9CB7-47B7-9E9E-B428005F8819}"/>
              </a:ext>
            </a:extLst>
          </p:cNvPr>
          <p:cNvSpPr>
            <a:spLocks noGrp="1"/>
          </p:cNvSpPr>
          <p:nvPr/>
        </p:nvSpPr>
        <p:spPr>
          <a:xfrm>
            <a:off x="4724400" y="5276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646DA0-68E5-4C80-89AC-9FE03A9A59B7}"/>
              </a:ext>
            </a:extLst>
          </p:cNvPr>
          <p:cNvSpPr>
            <a:spLocks noGrp="1"/>
          </p:cNvSpPr>
          <p:nvPr/>
        </p:nvSpPr>
        <p:spPr>
          <a:xfrm>
            <a:off x="5029200" y="5295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20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( ② 후행 Job 준비시간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7B9B97-7A3D-4101-B54C-301FFB761783}"/>
              </a:ext>
            </a:extLst>
          </p:cNvPr>
          <p:cNvSpPr>
            <a:spLocks noGrp="1"/>
          </p:cNvSpPr>
          <p:nvPr/>
        </p:nvSpPr>
        <p:spPr>
          <a:xfrm>
            <a:off x="7353300" y="5276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42ED88-DDD2-444C-BFC9-E39536E44C5A}"/>
              </a:ext>
            </a:extLst>
          </p:cNvPr>
          <p:cNvSpPr>
            <a:spLocks noGrp="1"/>
          </p:cNvSpPr>
          <p:nvPr/>
        </p:nvSpPr>
        <p:spPr>
          <a:xfrm>
            <a:off x="7658100" y="5295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③ 후행 Batch 공정시간 )</a:t>
            </a:r>
            <a:endParaRPr sz="1200" b="1">
              <a:solidFill>
                <a:srgbClr val="102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D5B4D8-A480-4B50-A9AA-0A095AEA772A}"/>
              </a:ext>
            </a:extLst>
          </p:cNvPr>
          <p:cNvSpPr>
            <a:spLocks noGrp="1"/>
          </p:cNvSpPr>
          <p:nvPr/>
        </p:nvSpPr>
        <p:spPr>
          <a:xfrm>
            <a:off x="895350" y="5695950"/>
            <a:ext cx="9429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975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시각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투입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대기시간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후행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Job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출발</a:t>
            </a:r>
            <a:r>
              <a:rPr sz="975" b="1" dirty="0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1" dirty="0" err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시점</a:t>
            </a:r>
            <a:endParaRPr sz="975" b="1" dirty="0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6B29F-0FBC-D01E-14B5-05F639DB12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Hybrid</a:t>
            </a:r>
            <a:r>
              <a:rPr sz="75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  |  Batch 투입 대기 스케줄링</a:t>
            </a:r>
          </a:p>
        </p:txBody>
      </p:sp>
      <p:sp>
        <p:nvSpPr>
          <p:cNvPr id="57" name="s1-group-1">
            <a:extLst>
              <a:ext uri="{FF2B5EF4-FFF2-40B4-BE49-F238E27FC236}">
                <a16:creationId xmlns:a16="http://schemas.microsoft.com/office/drawing/2014/main" id="{40A9A4E9-6ECB-44B8-B186-1576A966AE6D}"/>
              </a:ext>
            </a:extLst>
          </p:cNvPr>
          <p:cNvSpPr>
            <a:spLocks noGrp="1"/>
          </p:cNvSpPr>
          <p:nvPr/>
        </p:nvSpPr>
        <p:spPr>
          <a:xfrm>
            <a:off x="3333750" y="20002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① 선행 Job 잔여시간</a:t>
            </a:r>
          </a:p>
        </p:txBody>
      </p:sp>
    </p:spTree>
    <p:extLst>
      <p:ext uri="{BB962C8B-B14F-4D97-AF65-F5344CB8AC3E}">
        <p14:creationId xmlns:p14="http://schemas.microsoft.com/office/powerpoint/2010/main" val="200712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4618FE9-F814-49F6-BC6B-3681A0B12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52DE2-4B5D-4AB4-81B5-DC201F704D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02 </a:t>
            </a:r>
            <a:r>
              <a:rPr sz="1050" b="1" dirty="0" err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실설비</a:t>
            </a:r>
            <a:endParaRPr sz="975" b="1" dirty="0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27B722-62A8-4588-BD4B-3C717366A25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7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Batch </a:t>
            </a:r>
            <a:r>
              <a:rPr sz="27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투입</a:t>
            </a:r>
            <a:r>
              <a:rPr sz="27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스케줄링</a:t>
            </a:r>
            <a:r>
              <a:rPr sz="27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2700" b="1" dirty="0">
              <a:solidFill>
                <a:srgbClr val="102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88A666-A0AE-425B-B27A-5B84D459B45A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00100" cy="381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43D85-52FD-4351-99F6-E28F2151C2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CJ Start부터 Dipping Buffer 진입까지 실제 상태 변화를 순서대로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515AE-3414-4773-A8B2-88FEA7943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7EF109-4A31-45A3-A035-BFF33D718A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oundRect">
            <a:avLst>
              <a:gd name="adj" fmla="val 1025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6B29F-0FBC-D01E-14B5-05F639DB12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75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Hybrid  |  실설비 UI 검증</a:t>
            </a:r>
            <a:endParaRPr sz="750" b="0">
              <a:solidFill>
                <a:srgbClr val="62748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7" name="story-panel-1">
            <a:extLst>
              <a:ext uri="{FF2B5EF4-FFF2-40B4-BE49-F238E27FC236}">
                <a16:creationId xmlns:a16="http://schemas.microsoft.com/office/drawing/2014/main" id="{1ED308F5-8052-4CCB-BB2F-F9A593431168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257800" cy="1943100"/>
          </a:xfrm>
          <a:prstGeom prst="roundRect">
            <a:avLst>
              <a:gd name="adj" fmla="val 294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tory-accent-1">
            <a:extLst>
              <a:ext uri="{FF2B5EF4-FFF2-40B4-BE49-F238E27FC236}">
                <a16:creationId xmlns:a16="http://schemas.microsoft.com/office/drawing/2014/main" id="{C9281FBF-608C-464E-8734-8F462655D0B6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7150" cy="1943100"/>
          </a:xfrm>
          <a:prstGeom prst="roundRect">
            <a:avLst>
              <a:gd name="adj" fmla="val 50000"/>
            </a:avLst>
          </a:prstGeom>
          <a:solidFill>
            <a:srgbClr val="E87524"/>
          </a:solidFill>
          <a:ln w="0">
            <a:solidFill>
              <a:srgbClr val="E87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tory-title-1">
            <a:extLst>
              <a:ext uri="{FF2B5EF4-FFF2-40B4-BE49-F238E27FC236}">
                <a16:creationId xmlns:a16="http://schemas.microsoft.com/office/drawing/2014/main" id="{A48DEDDC-5734-45B2-93E5-D53B1B3878C8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487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275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01  CJ Start · Wait Time 산출</a:t>
            </a:r>
          </a:p>
        </p:txBody>
      </p:sp>
      <p:sp>
        <p:nvSpPr>
          <p:cNvPr id="60" name="story-body-1">
            <a:extLst>
              <a:ext uri="{FF2B5EF4-FFF2-40B4-BE49-F238E27FC236}">
                <a16:creationId xmlns:a16="http://schemas.microsoft.com/office/drawing/2014/main" id="{13ED0AA1-59F4-43D3-91EF-C7DE8B79A636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CJ Start 직후 ExecuteWaiting 상태로 진입해</a:t>
            </a:r>
          </a:p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투입 대기시간 산출</a:t>
            </a:r>
          </a:p>
        </p:txBody>
      </p:sp>
      <p:sp>
        <p:nvSpPr>
          <p:cNvPr id="61" name="story-capture-1">
            <a:extLst>
              <a:ext uri="{FF2B5EF4-FFF2-40B4-BE49-F238E27FC236}">
                <a16:creationId xmlns:a16="http://schemas.microsoft.com/office/drawing/2014/main" id="{469A43F5-E0C8-4FCC-9C7B-E896C1307EF3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876800" cy="990600"/>
          </a:xfrm>
          <a:prstGeom prst="rect">
            <a:avLst/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tory-panel-2">
            <a:extLst>
              <a:ext uri="{FF2B5EF4-FFF2-40B4-BE49-F238E27FC236}">
                <a16:creationId xmlns:a16="http://schemas.microsoft.com/office/drawing/2014/main" id="{1F89EDC2-F37E-4024-B9A3-0C575444781B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5410200" cy="1943100"/>
          </a:xfrm>
          <a:prstGeom prst="roundRect">
            <a:avLst>
              <a:gd name="adj" fmla="val 294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tory-accent-2">
            <a:extLst>
              <a:ext uri="{FF2B5EF4-FFF2-40B4-BE49-F238E27FC236}">
                <a16:creationId xmlns:a16="http://schemas.microsoft.com/office/drawing/2014/main" id="{913E0922-0A26-4FC8-8462-D3A64934697D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57150" cy="1943100"/>
          </a:xfrm>
          <a:prstGeom prst="roundRect">
            <a:avLst>
              <a:gd name="adj" fmla="val 50000"/>
            </a:avLst>
          </a:prstGeom>
          <a:solidFill>
            <a:srgbClr val="214C73"/>
          </a:solidFill>
          <a:ln w="0">
            <a:solidFill>
              <a:srgbClr val="214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tory-title-2">
            <a:extLst>
              <a:ext uri="{FF2B5EF4-FFF2-40B4-BE49-F238E27FC236}">
                <a16:creationId xmlns:a16="http://schemas.microsoft.com/office/drawing/2014/main" id="{E5F991DC-F8E8-4DEE-80B2-64825A8C7E89}"/>
              </a:ext>
            </a:extLst>
          </p:cNvPr>
          <p:cNvSpPr>
            <a:spLocks noGrp="1"/>
          </p:cNvSpPr>
          <p:nvPr/>
        </p:nvSpPr>
        <p:spPr>
          <a:xfrm>
            <a:off x="6286500" y="1981200"/>
            <a:ext cx="502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275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02  Wait Time 경과 · Job 실행</a:t>
            </a:r>
          </a:p>
        </p:txBody>
      </p:sp>
      <p:sp>
        <p:nvSpPr>
          <p:cNvPr id="65" name="story-body-2">
            <a:extLst>
              <a:ext uri="{FF2B5EF4-FFF2-40B4-BE49-F238E27FC236}">
                <a16:creationId xmlns:a16="http://schemas.microsoft.com/office/drawing/2014/main" id="{C232D470-B000-4DEA-B2F4-F550429E90B1}"/>
              </a:ext>
            </a:extLst>
          </p:cNvPr>
          <p:cNvSpPr>
            <a:spLocks noGrp="1"/>
          </p:cNvSpPr>
          <p:nvPr/>
        </p:nvSpPr>
        <p:spPr>
          <a:xfrm>
            <a:off x="6286500" y="2257425"/>
            <a:ext cx="502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산출 시간이 경과하면 Executing으로 전환하고</a:t>
            </a:r>
          </a:p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STR이 FOUP 반송 시작</a:t>
            </a:r>
          </a:p>
        </p:txBody>
      </p:sp>
      <p:sp>
        <p:nvSpPr>
          <p:cNvPr id="66" name="story-capture-2">
            <a:extLst>
              <a:ext uri="{FF2B5EF4-FFF2-40B4-BE49-F238E27FC236}">
                <a16:creationId xmlns:a16="http://schemas.microsoft.com/office/drawing/2014/main" id="{2BAFA5A3-E21F-4F15-B4E6-137CBF7FF2A2}"/>
              </a:ext>
            </a:extLst>
          </p:cNvPr>
          <p:cNvSpPr>
            <a:spLocks noGrp="1"/>
          </p:cNvSpPr>
          <p:nvPr/>
        </p:nvSpPr>
        <p:spPr>
          <a:xfrm>
            <a:off x="6286500" y="2705100"/>
            <a:ext cx="5029200" cy="990600"/>
          </a:xfrm>
          <a:prstGeom prst="rect">
            <a:avLst/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tory-panel-3">
            <a:extLst>
              <a:ext uri="{FF2B5EF4-FFF2-40B4-BE49-F238E27FC236}">
                <a16:creationId xmlns:a16="http://schemas.microsoft.com/office/drawing/2014/main" id="{FFE9AB42-F20F-4017-8010-A76E89921464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5257800" cy="1943100"/>
          </a:xfrm>
          <a:prstGeom prst="roundRect">
            <a:avLst>
              <a:gd name="adj" fmla="val 294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tory-accent-3">
            <a:extLst>
              <a:ext uri="{FF2B5EF4-FFF2-40B4-BE49-F238E27FC236}">
                <a16:creationId xmlns:a16="http://schemas.microsoft.com/office/drawing/2014/main" id="{88DCF955-760F-40ED-824E-194831592B52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57150" cy="1943100"/>
          </a:xfrm>
          <a:prstGeom prst="roundRect">
            <a:avLst>
              <a:gd name="adj" fmla="val 50000"/>
            </a:avLst>
          </a:prstGeom>
          <a:solidFill>
            <a:srgbClr val="4E7897"/>
          </a:solidFill>
          <a:ln w="0">
            <a:solidFill>
              <a:srgbClr val="4E78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tory-title-3">
            <a:extLst>
              <a:ext uri="{FF2B5EF4-FFF2-40B4-BE49-F238E27FC236}">
                <a16:creationId xmlns:a16="http://schemas.microsoft.com/office/drawing/2014/main" id="{E5E9549F-B632-4E1E-A483-E1019B8A044B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487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2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03  잔여시간 예측 기반 · 후행 Batch 선행 투입</a:t>
            </a:r>
          </a:p>
        </p:txBody>
      </p:sp>
      <p:sp>
        <p:nvSpPr>
          <p:cNvPr id="70" name="story-body-3">
            <a:extLst>
              <a:ext uri="{FF2B5EF4-FFF2-40B4-BE49-F238E27FC236}">
                <a16:creationId xmlns:a16="http://schemas.microsoft.com/office/drawing/2014/main" id="{506DA7F3-4E33-4C38-94A9-037D8B42F36E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선행 Dipping Buffer 배출 중에도 잔여시간을 기준으로</a:t>
            </a:r>
          </a:p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출발시점을 역산해 Batch 공정 진행</a:t>
            </a:r>
          </a:p>
        </p:txBody>
      </p:sp>
      <p:sp>
        <p:nvSpPr>
          <p:cNvPr id="71" name="story-capture-3">
            <a:extLst>
              <a:ext uri="{FF2B5EF4-FFF2-40B4-BE49-F238E27FC236}">
                <a16:creationId xmlns:a16="http://schemas.microsoft.com/office/drawing/2014/main" id="{93DE540C-2647-4B3F-947F-FA2A8E8ED76D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4876800" cy="990600"/>
          </a:xfrm>
          <a:prstGeom prst="rect">
            <a:avLst/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tory-panel-4">
            <a:extLst>
              <a:ext uri="{FF2B5EF4-FFF2-40B4-BE49-F238E27FC236}">
                <a16:creationId xmlns:a16="http://schemas.microsoft.com/office/drawing/2014/main" id="{52D86BF5-6623-4209-9641-1B7C50468BB5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410200" cy="1943100"/>
          </a:xfrm>
          <a:prstGeom prst="roundRect">
            <a:avLst>
              <a:gd name="adj" fmla="val 294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tory-accent-4">
            <a:extLst>
              <a:ext uri="{FF2B5EF4-FFF2-40B4-BE49-F238E27FC236}">
                <a16:creationId xmlns:a16="http://schemas.microsoft.com/office/drawing/2014/main" id="{42F90C73-7866-4B1E-A088-6BB9378A8782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7150" cy="1943100"/>
          </a:xfrm>
          <a:prstGeom prst="roundRect">
            <a:avLst>
              <a:gd name="adj" fmla="val 50000"/>
            </a:avLst>
          </a:prstGeom>
          <a:solidFill>
            <a:srgbClr val="2F7653"/>
          </a:solidFill>
          <a:ln w="0">
            <a:solidFill>
              <a:srgbClr val="2F76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tory-title-4">
            <a:extLst>
              <a:ext uri="{FF2B5EF4-FFF2-40B4-BE49-F238E27FC236}">
                <a16:creationId xmlns:a16="http://schemas.microsoft.com/office/drawing/2014/main" id="{5483037B-1880-484B-997F-A77DFFEDFB9D}"/>
              </a:ext>
            </a:extLst>
          </p:cNvPr>
          <p:cNvSpPr>
            <a:spLocks noGrp="1"/>
          </p:cNvSpPr>
          <p:nvPr/>
        </p:nvSpPr>
        <p:spPr>
          <a:xfrm>
            <a:off x="6286500" y="4057650"/>
            <a:ext cx="502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27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04  완료시점 정렬 · Buffer 대기 최소화</a:t>
            </a:r>
          </a:p>
        </p:txBody>
      </p:sp>
      <p:sp>
        <p:nvSpPr>
          <p:cNvPr id="75" name="story-body-4">
            <a:extLst>
              <a:ext uri="{FF2B5EF4-FFF2-40B4-BE49-F238E27FC236}">
                <a16:creationId xmlns:a16="http://schemas.microsoft.com/office/drawing/2014/main" id="{8057FB51-0076-4DFC-8333-F8B04335F0EF}"/>
              </a:ext>
            </a:extLst>
          </p:cNvPr>
          <p:cNvSpPr>
            <a:spLocks noGrp="1"/>
          </p:cNvSpPr>
          <p:nvPr/>
        </p:nvSpPr>
        <p:spPr>
          <a:xfrm>
            <a:off x="6286500" y="4333875"/>
            <a:ext cx="502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후행 마지막 POS 완료와 선행 Dipping Buffer 배출 완료를 맞춰</a:t>
            </a:r>
          </a:p>
          <a:p>
            <a:pPr>
              <a:buNone/>
              <a:def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Batch 완료 후 Buffer 대기 최소화</a:t>
            </a:r>
          </a:p>
        </p:txBody>
      </p:sp>
      <p:sp>
        <p:nvSpPr>
          <p:cNvPr id="76" name="story-capture-4">
            <a:extLst>
              <a:ext uri="{FF2B5EF4-FFF2-40B4-BE49-F238E27FC236}">
                <a16:creationId xmlns:a16="http://schemas.microsoft.com/office/drawing/2014/main" id="{5AEC65C0-2EC8-4BAC-B982-05DAA8633E17}"/>
              </a:ext>
            </a:extLst>
          </p:cNvPr>
          <p:cNvSpPr>
            <a:spLocks noGrp="1"/>
          </p:cNvSpPr>
          <p:nvPr/>
        </p:nvSpPr>
        <p:spPr>
          <a:xfrm>
            <a:off x="6286500" y="4781550"/>
            <a:ext cx="5029200" cy="990600"/>
          </a:xfrm>
          <a:prstGeom prst="rect">
            <a:avLst/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12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4618FE9-F814-49F6-BC6B-3681A0B12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52DE2-4B5D-4AB4-81B5-DC201F704D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03 산출 로직</a:t>
            </a:r>
            <a:endParaRPr sz="975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27B722-62A8-4588-BD4B-3C717366A25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 잔여시간에서 준비·Batch 시간을 역산해 투입 대기시간을 산출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88A666-A0AE-425B-B27A-5B84D459B45A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00100" cy="381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43D85-52FD-4351-99F6-E28F2151C2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1페이지와 동일한 ① · ② · ③ 항목으로 투입 대기시간 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515AE-3414-4773-A8B2-88FEA79435C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7150" cy="9144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997227-977B-4CE7-B99F-3456C8389C1B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30099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FAEB32-36DA-4789-8820-3EDF630FB7CD}"/>
              </a:ext>
            </a:extLst>
          </p:cNvPr>
          <p:cNvSpPr>
            <a:spLocks noGrp="1"/>
          </p:cNvSpPr>
          <p:nvPr/>
        </p:nvSpPr>
        <p:spPr>
          <a:xfrm>
            <a:off x="4495800" y="3638550"/>
            <a:ext cx="30099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90B78E-FAAA-488F-9ABB-A25A188B8D69}"/>
              </a:ext>
            </a:extLst>
          </p:cNvPr>
          <p:cNvSpPr>
            <a:spLocks noGrp="1"/>
          </p:cNvSpPr>
          <p:nvPr/>
        </p:nvSpPr>
        <p:spPr>
          <a:xfrm>
            <a:off x="8096250" y="3638550"/>
            <a:ext cx="32004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452A0-86C0-4B9D-94B5-0D38D93EC62A}"/>
              </a:ext>
            </a:extLst>
          </p:cNvPr>
          <p:cNvSpPr>
            <a:spLocks noGrp="1"/>
          </p:cNvSpPr>
          <p:nvPr/>
        </p:nvSpPr>
        <p:spPr>
          <a:xfrm>
            <a:off x="895350" y="2042967"/>
            <a:ext cx="10191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buNone/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투입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대기시간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 =  ①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Job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잔여시간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 −  (②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후행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Job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준비시간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 +  ③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후행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 Batch </a:t>
            </a:r>
            <a:r>
              <a:rPr sz="1600" b="1" dirty="0" err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공정시간</a:t>
            </a:r>
            <a:r>
              <a:rPr sz="1600" b="1" dirty="0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050" b="1" dirty="0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FE5B2-4A91-41D3-9614-C6BFFFDEA7FA}"/>
              </a:ext>
            </a:extLst>
          </p:cNvPr>
          <p:cNvSpPr>
            <a:spLocks noGrp="1"/>
          </p:cNvSpPr>
          <p:nvPr/>
        </p:nvSpPr>
        <p:spPr>
          <a:xfrm>
            <a:off x="5314950" y="2514600"/>
            <a:ext cx="5772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675" b="1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TargetWaitTime = RemainingTime − (PrepTime + NewBatchTime)</a:t>
            </a:r>
            <a:endParaRPr sz="900" b="1">
              <a:solidFill>
                <a:srgbClr val="2F765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3052C-6665-4AAB-9A58-14D9DF2D0E86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① 선행 Job 잔여시간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36559E0-5B6E-4506-B67B-F8380B66A893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3429000" cy="3257550"/>
          </a:xfrm>
          <a:prstGeom prst="roundRect">
            <a:avLst>
              <a:gd name="adj" fmla="val 238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3AE882-8D56-4BB0-920A-E5440E7AAD1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자원이 비기까지 남은 전체 시간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9C6A07-2676-4CEC-96CF-BBD3F25B002A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3429000" cy="325755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950E0A-36A7-4A2E-A1FE-04987104EB03}"/>
              </a:ext>
            </a:extLst>
          </p:cNvPr>
          <p:cNvSpPr>
            <a:spLocks noGrp="1"/>
          </p:cNvSpPr>
          <p:nvPr/>
        </p:nvSpPr>
        <p:spPr>
          <a:xfrm>
            <a:off x="4495800" y="32575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② 후행 Job 준비시간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051CE74-0926-4AF6-9556-65FEE0E85D02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3619500" cy="3257550"/>
          </a:xfrm>
          <a:prstGeom prst="roundRect">
            <a:avLst>
              <a:gd name="adj" fmla="val 2703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B59B36-D816-4664-B3B4-EC09A440BA8B}"/>
              </a:ext>
            </a:extLst>
          </p:cNvPr>
          <p:cNvSpPr>
            <a:spLocks noGrp="1"/>
          </p:cNvSpPr>
          <p:nvPr/>
        </p:nvSpPr>
        <p:spPr>
          <a:xfrm>
            <a:off x="8096250" y="3257550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③ 후행 Batch 공정시간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B7F13A-4701-41AC-8E91-6125D62A2C31}"/>
              </a:ext>
            </a:extLst>
          </p:cNvPr>
          <p:cNvSpPr>
            <a:spLocks noGrp="1"/>
          </p:cNvSpPr>
          <p:nvPr/>
        </p:nvSpPr>
        <p:spPr>
          <a:xfrm>
            <a:off x="895350" y="3981450"/>
            <a:ext cx="3657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4000"/>
              </a:lnSpc>
              <a:buNone/>
              <a:defRPr sz="1163" b="1">
                <a:solidFill>
                  <a:srgbClr val="E07A2D"/>
                </a:solidFill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A97566-00B4-4182-B05A-6927F48A829E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57150" cy="325755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0">
            <a:solidFill>
              <a:srgbClr val="E07A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C5FB05-B99E-4B30-81CF-7B4F649B74B6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3009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In Buffer 적재 잔여</a:t>
            </a:r>
          </a:p>
          <a:p>
            <a:pPr algn="l">
              <a:lnSpc>
                <a:spcPct val="108000"/>
              </a:lnSpc>
              <a:spcBef>
                <a:spcPts val="12"/>
              </a:spcBef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+  Batch 공정 잔여</a:t>
            </a:r>
          </a:p>
          <a:p>
            <a:pPr algn="l">
              <a:lnSpc>
                <a:spcPct val="108000"/>
              </a:lnSpc>
              <a:spcBef>
                <a:spcPts val="12"/>
              </a:spcBef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+  Dipping Buffer 배출 잔여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592039-79C8-4FBE-A2A1-0E4095E6553F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57150" cy="325755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DC167-8742-4DFB-95BD-A2155B22F1D0}"/>
              </a:ext>
            </a:extLst>
          </p:cNvPr>
          <p:cNvSpPr>
            <a:spLocks noGrp="1"/>
          </p:cNvSpPr>
          <p:nvPr/>
        </p:nvSpPr>
        <p:spPr>
          <a:xfrm>
            <a:off x="4495800" y="3943350"/>
            <a:ext cx="300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183F63"/>
                </a:solidFill>
              </a:defRPr>
            </a:pPr>
            <a:r>
              <a:rPr sz="1350" b="1">
                <a:solidFill>
                  <a:srgbClr val="183F63"/>
                </a:solidFill>
              </a:rPr>
              <a:t>FOUP 이동시간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FBB19C-B826-4FF2-80AE-478969ECAF79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57150" cy="3257550"/>
          </a:xfrm>
          <a:prstGeom prst="roundRect">
            <a:avLst>
              <a:gd name="adj" fmla="val 50000"/>
            </a:avLst>
          </a:prstGeom>
          <a:solidFill>
            <a:srgbClr val="2F7653"/>
          </a:solidFill>
          <a:ln w="0">
            <a:solidFill>
              <a:srgbClr val="2F76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2197FA-75A4-43A7-A4D8-8575C79E7B55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320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627483"/>
                </a:solidFill>
              </a:defRPr>
            </a:pPr>
            <a:r>
              <a:rPr sz="1200" b="1">
                <a:solidFill>
                  <a:srgbClr val="627483"/>
                </a:solidFill>
              </a:rPr>
              <a:t>후행 Job의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C26C10-7CBC-44F5-A7E2-923684E8D74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90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계산 항목</a:t>
            </a:r>
            <a:endParaRPr sz="105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7EF109-4A31-45A3-A035-BFF33D718AC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91440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782E9E-6C8D-4F2B-BC6E-61BABF820775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세 구간의 잔여시간을 합산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5B2815-4800-4A16-95EC-D51178A904BD}"/>
              </a:ext>
            </a:extLst>
          </p:cNvPr>
          <p:cNvSpPr>
            <a:spLocks noGrp="1"/>
          </p:cNvSpPr>
          <p:nvPr/>
        </p:nvSpPr>
        <p:spPr>
          <a:xfrm>
            <a:off x="4495800" y="582930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SHELF 반송부터 ATR1 적재 완료까지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18A97-004F-449B-85EF-99664D19992D}"/>
              </a:ext>
            </a:extLst>
          </p:cNvPr>
          <p:cNvSpPr>
            <a:spLocks noGrp="1"/>
          </p:cNvSpPr>
          <p:nvPr/>
        </p:nvSpPr>
        <p:spPr>
          <a:xfrm>
            <a:off x="4495800" y="430530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E07A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07A2D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28A29-9CB7-47B7-9E9E-B428005F8819}"/>
              </a:ext>
            </a:extLst>
          </p:cNvPr>
          <p:cNvSpPr>
            <a:spLocks noGrp="1"/>
          </p:cNvSpPr>
          <p:nvPr/>
        </p:nvSpPr>
        <p:spPr>
          <a:xfrm>
            <a:off x="4495800" y="4667250"/>
            <a:ext cx="3009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후행 Wafer 수</a:t>
            </a:r>
          </a:p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>
                <a:solidFill>
                  <a:srgbClr val="173042"/>
                </a:solidFill>
              </a:rPr>
              <a:t>× In Buffer 장당 적재시간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42ED88-DDD2-444C-BFC9-E39536E44C5A}"/>
              </a:ext>
            </a:extLst>
          </p:cNvPr>
          <p:cNvSpPr>
            <a:spLocks noGrp="1"/>
          </p:cNvSpPr>
          <p:nvPr/>
        </p:nvSpPr>
        <p:spPr>
          <a:xfrm>
            <a:off x="8096250" y="44386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83F63"/>
                </a:solidFill>
              </a:defRPr>
            </a:pPr>
            <a:r>
              <a:rPr sz="1500" b="1">
                <a:solidFill>
                  <a:srgbClr val="183F63"/>
                </a:solidFill>
              </a:rPr>
              <a:t>Batch Recipe 총시간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D5B4D8-A480-4B50-A9AA-0A095AEA772A}"/>
              </a:ext>
            </a:extLst>
          </p:cNvPr>
          <p:cNvSpPr>
            <a:spLocks noGrp="1"/>
          </p:cNvSpPr>
          <p:nvPr/>
        </p:nvSpPr>
        <p:spPr>
          <a:xfrm>
            <a:off x="8096250" y="5829300"/>
            <a:ext cx="320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Batch 종료 시점을 맞추기 위해 미리 확보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6B29F-0FBC-D01E-14B5-05F639DB12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33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Hybrid  |  Batch 투입 대기시간 산출</a:t>
            </a:r>
            <a:endParaRPr sz="750" b="0">
              <a:solidFill>
                <a:srgbClr val="62748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0712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4618FE9-F814-49F6-BC6B-3681A0B12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52DE2-4B5D-4AB4-81B5-DC201F704D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04 선행 Job 잔여시간</a:t>
            </a:r>
            <a:endParaRPr sz="975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27B722-62A8-4588-BD4B-3C717366A25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 Job 잔여시간은 세 구간을 합산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88A666-A0AE-425B-B27A-5B84D459B45A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00100" cy="381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43D85-52FD-4351-99F6-E28F2151C2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①-1 In Buffer 적재 → ①-2 Batch 공정 → ①-3 Dipping Buffer 배출 순으로 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515AE-3414-4773-A8B2-88FEA79435C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7150" cy="9144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997227-977B-4CE7-B99F-3456C8389C1B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30099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FAEB32-36DA-4789-8820-3EDF630FB7CD}"/>
              </a:ext>
            </a:extLst>
          </p:cNvPr>
          <p:cNvSpPr>
            <a:spLocks noGrp="1"/>
          </p:cNvSpPr>
          <p:nvPr/>
        </p:nvSpPr>
        <p:spPr>
          <a:xfrm>
            <a:off x="4495800" y="3638550"/>
            <a:ext cx="30099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90B78E-FAAA-488F-9ABB-A25A188B8D69}"/>
              </a:ext>
            </a:extLst>
          </p:cNvPr>
          <p:cNvSpPr>
            <a:spLocks noGrp="1"/>
          </p:cNvSpPr>
          <p:nvPr/>
        </p:nvSpPr>
        <p:spPr>
          <a:xfrm>
            <a:off x="8096250" y="3638550"/>
            <a:ext cx="3200400" cy="9525"/>
          </a:xfrm>
          <a:prstGeom prst="roundRect">
            <a:avLst>
              <a:gd name="adj" fmla="val 5000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452A0-86C0-4B9D-94B5-0D38D93EC62A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선행 Job 잔여시간</a:t>
            </a:r>
            <a:endParaRPr sz="90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9F2A89-CCCD-43EA-BE04-FD42838B03A7}"/>
              </a:ext>
            </a:extLst>
          </p:cNvPr>
          <p:cNvSpPr>
            <a:spLocks noGrp="1"/>
          </p:cNvSpPr>
          <p:nvPr/>
        </p:nvSpPr>
        <p:spPr>
          <a:xfrm>
            <a:off x="3409950" y="1905000"/>
            <a:ext cx="7543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83F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3F63"/>
                </a:solidFill>
                <a:latin typeface="Noto Sans KR"/>
                <a:ea typeface="Noto Sans KR"/>
                <a:cs typeface="Noto Sans KR"/>
              </a:rPr>
              <a:t>=  In Buffer 적재 잔여  +  Batch 공정 잔여  +  Dipping Buffer 배출 잔여</a:t>
            </a:r>
            <a:endParaRPr sz="975" b="1">
              <a:solidFill>
                <a:srgbClr val="E07A2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FE5B2-4A91-41D3-9614-C6BFFFDEA7FA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RemainingTime</a:t>
            </a:r>
            <a:endParaRPr sz="900" b="1">
              <a:solidFill>
                <a:srgbClr val="2F765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3052C-6665-4AAB-9A58-14D9DF2D0E86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①-1 In Buffer 적재 잔여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36559E0-5B6E-4506-B67B-F8380B66A893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3429000" cy="2324100"/>
          </a:xfrm>
          <a:prstGeom prst="roundRect">
            <a:avLst>
              <a:gd name="adj" fmla="val 2381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3AE882-8D56-4BB0-920A-E5440E7AAD17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3009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적재하지 못한 Wafer 수</a:t>
            </a:r>
          </a:p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× 장당 적재시간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9C6A07-2676-4CEC-96CF-BBD3F25B002A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3429000" cy="232410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950E0A-36A7-4A2E-A1FE-04987104EB03}"/>
              </a:ext>
            </a:extLst>
          </p:cNvPr>
          <p:cNvSpPr>
            <a:spLocks noGrp="1"/>
          </p:cNvSpPr>
          <p:nvPr/>
        </p:nvSpPr>
        <p:spPr>
          <a:xfrm>
            <a:off x="4495800" y="32575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4C73"/>
                </a:solidFill>
                <a:latin typeface="Noto Sans KR"/>
                <a:ea typeface="Noto Sans KR"/>
                <a:cs typeface="Noto Sans KR"/>
              </a:rPr>
              <a:t>①-2 Batch 공정 잔여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051CE74-0926-4AF6-9556-65FEE0E85D02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3619500" cy="2324100"/>
          </a:xfrm>
          <a:prstGeom prst="roundRect">
            <a:avLst>
              <a:gd name="adj" fmla="val 2703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B59B36-D816-4664-B3B4-EC09A440BA8B}"/>
              </a:ext>
            </a:extLst>
          </p:cNvPr>
          <p:cNvSpPr>
            <a:spLocks noGrp="1"/>
          </p:cNvSpPr>
          <p:nvPr/>
        </p:nvSpPr>
        <p:spPr>
          <a:xfrm>
            <a:off x="8096250" y="3257550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①-3 Dipping Buffer 배출 잔여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B7F13A-4701-41AC-8E91-6125D62A2C31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009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18" algn="l">
              <a:lnSpc>
                <a:spcPct val="104000"/>
              </a:lnSpc>
              <a:buNone/>
              <a:defRPr sz="1163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163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전체 Wafer − 적재 완료 Wafer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A97566-00B4-4182-B05A-6927F48A829E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57150" cy="23241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0">
            <a:solidFill>
              <a:srgbClr val="E07A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C5FB05-B99E-4B30-81CF-7B4F649B74B6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6000"/>
              </a:lnSpc>
              <a:buNone/>
              <a:def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Batch 투입 전만 계산 · 투입 후 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592039-79C8-4FBE-A2A1-0E4095E6553F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57150" cy="23241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DC167-8742-4DFB-95BD-A2155B22F1D0}"/>
              </a:ext>
            </a:extLst>
          </p:cNvPr>
          <p:cNvSpPr>
            <a:spLocks noGrp="1"/>
          </p:cNvSpPr>
          <p:nvPr/>
        </p:nvSpPr>
        <p:spPr>
          <a:xfrm>
            <a:off x="4495800" y="3905250"/>
            <a:ext cx="30099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>
                <a:solidFill>
                  <a:srgbClr val="173042"/>
                </a:solidFill>
              </a:rPr>
              <a:t>투입 전</a:t>
            </a:r>
            <a:r>
              <a:rPr sz="1200" b="1">
                <a:solidFill>
                  <a:srgbClr val="173042"/>
                </a:solidFill>
              </a:rPr>
              <a:t>  = Recipe 총시간</a:t>
            </a:r>
          </a:p>
          <a:p>
            <a:pPr algn="l">
              <a:lnSpc>
                <a:spcPct val="108000"/>
              </a:lnSpc>
              <a:spcBef>
                <a:spcPts val="12"/>
              </a:spcBef>
              <a:buNone/>
              <a:defRPr sz="1200">
                <a:solidFill>
                  <a:srgbClr val="173042"/>
                </a:solidFill>
              </a:defRPr>
            </a:pPr>
            <a:r>
              <a:rPr sz="1200">
                <a:solidFill>
                  <a:srgbClr val="173042"/>
                </a:solidFill>
              </a:rPr>
              <a:t>투입 후</a:t>
            </a:r>
          </a:p>
          <a:p>
            <a:pPr marL="18"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= 총시간 + 경과시간 × 배속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FBB19C-B826-4FF2-80AE-478969ECAF79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57150" cy="2324100"/>
          </a:xfrm>
          <a:prstGeom prst="roundRect">
            <a:avLst>
              <a:gd name="adj" fmla="val 50000"/>
            </a:avLst>
          </a:prstGeom>
          <a:solidFill>
            <a:srgbClr val="2F7653"/>
          </a:solidFill>
          <a:ln w="0">
            <a:solidFill>
              <a:srgbClr val="2F76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2197FA-75A4-43A7-A4D8-8575C79E7B55}"/>
              </a:ext>
            </a:extLst>
          </p:cNvPr>
          <p:cNvSpPr>
            <a:spLocks noGrp="1"/>
          </p:cNvSpPr>
          <p:nvPr/>
        </p:nvSpPr>
        <p:spPr>
          <a:xfrm>
            <a:off x="8096250" y="3857625"/>
            <a:ext cx="320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배출 대상 Wafer 수</a:t>
            </a:r>
          </a:p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× 유효 배출주기</a:t>
            </a:r>
          </a:p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+ 초기 지연시간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C26C10-7CBC-44F5-A7E2-923684E8D74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9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① 세부 산출</a:t>
            </a:r>
            <a:endParaRPr sz="105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7EF109-4A31-45A3-A035-BFF33D718AC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91440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782E9E-6C8D-4F2B-BC6E-61BABF820775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788">
                <a:solidFill>
                  <a:srgbClr val="173042"/>
                </a:solidFill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5B2815-4800-4A16-95EC-D51178A904BD}"/>
              </a:ext>
            </a:extLst>
          </p:cNvPr>
          <p:cNvSpPr>
            <a:spLocks noGrp="1"/>
          </p:cNvSpPr>
          <p:nvPr/>
        </p:nvSpPr>
        <p:spPr>
          <a:xfrm>
            <a:off x="2324100" y="6057900"/>
            <a:ext cx="13906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1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18A97-004F-449B-85EF-99664D19992D}"/>
              </a:ext>
            </a:extLst>
          </p:cNvPr>
          <p:cNvSpPr>
            <a:spLocks noGrp="1"/>
          </p:cNvSpPr>
          <p:nvPr/>
        </p:nvSpPr>
        <p:spPr>
          <a:xfrm>
            <a:off x="4495800" y="5010150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18" algn="l">
              <a:lnSpc>
                <a:spcPct val="104000"/>
              </a:lnSpc>
              <a:buNone/>
              <a:def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현재 Batch 진행상태 반영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28A29-9CB7-47B7-9E9E-B428005F8819}"/>
              </a:ext>
            </a:extLst>
          </p:cNvPr>
          <p:cNvSpPr>
            <a:spLocks noGrp="1"/>
          </p:cNvSpPr>
          <p:nvPr/>
        </p:nvSpPr>
        <p:spPr>
          <a:xfrm>
            <a:off x="895350" y="56578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Dipping Buffer 보조 계산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646DA0-68E5-4C80-89AC-9FE03A9A59B7}"/>
              </a:ext>
            </a:extLst>
          </p:cNvPr>
          <p:cNvSpPr>
            <a:spLocks noGrp="1"/>
          </p:cNvSpPr>
          <p:nvPr/>
        </p:nvSpPr>
        <p:spPr>
          <a:xfrm>
            <a:off x="3238500" y="565785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>
                <a:solidFill>
                  <a:srgbClr val="173042"/>
                </a:solidFill>
              </a:rPr>
              <a:t>유효 배출주기 = MAX(PM 공정주기, MTR 이송, ATR2 이송)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7B9B97-7A3D-4101-B54C-301FFB761783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>
                <a:solidFill>
                  <a:srgbClr val="173042"/>
                </a:solidFill>
              </a:defRPr>
            </a:pPr>
            <a:r>
              <a:rPr sz="1200">
                <a:solidFill>
                  <a:srgbClr val="173042"/>
                </a:solidFill>
              </a:rPr>
              <a:t>초기 지연시간 = MAX(0, PM Recipe 시간 − 초기 투입시간)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42ED88-DDD2-444C-BFC9-E39536E44C5A}"/>
              </a:ext>
            </a:extLst>
          </p:cNvPr>
          <p:cNvSpPr>
            <a:spLocks noGrp="1"/>
          </p:cNvSpPr>
          <p:nvPr/>
        </p:nvSpPr>
        <p:spPr>
          <a:xfrm>
            <a:off x="8096250" y="5010150"/>
            <a:ext cx="3200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6000"/>
              </a:lnSpc>
              <a:buNone/>
              <a:def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후단 병목과 초기 PM 상태 반영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D5B4D8-A480-4B50-A9AA-0A095AEA772A}"/>
              </a:ext>
            </a:extLst>
          </p:cNvPr>
          <p:cNvSpPr>
            <a:spLocks noGrp="1"/>
          </p:cNvSpPr>
          <p:nvPr/>
        </p:nvSpPr>
        <p:spPr>
          <a:xfrm>
            <a:off x="8458200" y="581025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lnSpc>
                <a:spcPct val="96000"/>
              </a:lnSpc>
              <a:buNone/>
              <a:defRPr sz="1163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예: MAX(45초, 4초, 6초) = 45초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6B29F-0FBC-D01E-14B5-05F639DB12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33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Hybrid  |  RemainingTime 상세 산출</a:t>
            </a:r>
            <a:endParaRPr sz="750" b="0">
              <a:solidFill>
                <a:srgbClr val="62748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0712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4618FE9-F814-49F6-BC6B-3681A0B12C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52DE2-4B5D-4AB4-81B5-DC201F704D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E7897"/>
                </a:solidFill>
                <a:latin typeface="Noto Sans KR"/>
                <a:ea typeface="Noto Sans KR"/>
                <a:cs typeface="Noto Sans KR"/>
              </a:rPr>
              <a:t>05 실설비 보정</a:t>
            </a:r>
            <a:endParaRPr sz="975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27B722-62A8-4588-BD4B-3C717366A25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정상 편차는 OffsetTime으로 보정하고 비정상 상황은 Interlock으로 차단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88A666-A0AE-425B-B27A-5B84D459B45A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00100" cy="381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C43D85-52FD-4351-99F6-E28F2151C2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반복 가능한 H/W 편차와 예측 불가능한 정지를 분리해 보정값과 투입 허용 조건으로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515AE-3414-4773-A8B2-88FEA79435C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997227-977B-4CE7-B99F-3456C8389C1B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4762500" cy="9525"/>
          </a:xfrm>
          <a:prstGeom prst="roundRect">
            <a:avLst>
              <a:gd name="adj" fmla="val 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FAEB32-36DA-4789-8820-3EDF630FB7CD}"/>
              </a:ext>
            </a:extLst>
          </p:cNvPr>
          <p:cNvSpPr>
            <a:spLocks noGrp="1"/>
          </p:cNvSpPr>
          <p:nvPr/>
        </p:nvSpPr>
        <p:spPr>
          <a:xfrm>
            <a:off x="6324600" y="3562350"/>
            <a:ext cx="4953000" cy="9525"/>
          </a:xfrm>
          <a:prstGeom prst="roundRect">
            <a:avLst>
              <a:gd name="adj" fmla="val 0"/>
            </a:avLst>
          </a:prstGeom>
          <a:solidFill>
            <a:srgbClr val="C8D6E0"/>
          </a:solidFill>
          <a:ln w="0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452A0-86C0-4B9D-94B5-0D38D93EC62A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투입 대기시간</a:t>
            </a:r>
            <a:endParaRPr sz="900" b="1">
              <a:solidFill>
                <a:srgbClr val="4E789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9F2A89-CCCD-43EA-BE04-FD42838B03A7}"/>
              </a:ext>
            </a:extLst>
          </p:cNvPr>
          <p:cNvSpPr>
            <a:spLocks noGrp="1"/>
          </p:cNvSpPr>
          <p:nvPr/>
        </p:nvSpPr>
        <p:spPr>
          <a:xfrm>
            <a:off x="2533650" y="2019300"/>
            <a:ext cx="702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= ① 선행 Job 잔여시간 − (② 후행 Job 준비시간 + ③ 후행 Batch 공정시간)</a:t>
            </a:r>
            <a:endParaRPr sz="975" b="1">
              <a:solidFill>
                <a:srgbClr val="E07A2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FE5B2-4A91-41D3-9614-C6BFFFDEA7FA}"/>
              </a:ext>
            </a:extLst>
          </p:cNvPr>
          <p:cNvSpPr>
            <a:spLocks noGrp="1"/>
          </p:cNvSpPr>
          <p:nvPr/>
        </p:nvSpPr>
        <p:spPr>
          <a:xfrm>
            <a:off x="9620250" y="200977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r">
              <a:buNone/>
              <a:def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+ OffsetTime</a:t>
            </a:r>
            <a:endParaRPr sz="900" b="1">
              <a:solidFill>
                <a:srgbClr val="2F765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3052C-6665-4AAB-9A58-14D9DF2D0E86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계산식과 분리해 관리하는 설비 고유 편차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36559E0-5B6E-4506-B67B-F8380B66A893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238750" cy="304800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3AE882-8D56-4BB0-920A-E5440E7AAD17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13" b="1">
                <a:solidFill>
                  <a:srgbClr val="183F6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9C6A07-2676-4CEC-96CF-BBD3F25B002A}"/>
              </a:ext>
            </a:extLst>
          </p:cNvPr>
          <p:cNvSpPr>
            <a:spLocks noGrp="1"/>
          </p:cNvSpPr>
          <p:nvPr/>
        </p:nvSpPr>
        <p:spPr>
          <a:xfrm>
            <a:off x="6096000" y="2952750"/>
            <a:ext cx="5410200" cy="304800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950E0A-36A7-4A2E-A1FE-04987104EB03}"/>
              </a:ext>
            </a:extLst>
          </p:cNvPr>
          <p:cNvSpPr>
            <a:spLocks noGrp="1"/>
          </p:cNvSpPr>
          <p:nvPr/>
        </p:nvSpPr>
        <p:spPr>
          <a:xfrm>
            <a:off x="6324600" y="3181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계산식으로 예측하기 어려운 비정상 상황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B7F13A-4701-41AC-8E91-6125D62A2C31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FOUP 처리   CJ 변경 시 S-LP 교체 · PORT Load/Unload</a:t>
            </a:r>
          </a:p>
          <a:p>
            <a:pPr algn="l">
              <a:lnSpc>
                <a:spcPct val="108000"/>
              </a:lnSpc>
              <a:spcBef>
                <a:spcPts val="13"/>
              </a:spcBef>
              <a:buNone/>
              <a:def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H/W 동작   로봇 반송 · 상태 전환 · 통신 응답</a:t>
            </a:r>
          </a:p>
          <a:p>
            <a:pPr algn="l">
              <a:lnSpc>
                <a:spcPct val="108000"/>
              </a:lnSpc>
              <a:spcBef>
                <a:spcPts val="13"/>
              </a:spcBef>
              <a:buNone/>
              <a:def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설비별 편차   로봇·PORT별 실제 동작시간 차이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2A97566-00B4-4182-B05A-6927F48A829E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7150" cy="3048000"/>
          </a:xfrm>
          <a:prstGeom prst="roundRect">
            <a:avLst>
              <a:gd name="adj" fmla="val 50000"/>
            </a:avLst>
          </a:prstGeom>
          <a:solidFill>
            <a:srgbClr val="E87524"/>
          </a:solidFill>
          <a:ln w="0">
            <a:solidFill>
              <a:srgbClr val="E875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C5FB05-B99E-4B30-81CF-7B4F649B74B6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정상 동작에서 반복 측정 가능한 편차는 계산식을 복잡하게 만들지 않고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87524"/>
                </a:solidFill>
                <a:latin typeface="Noto Sans KR"/>
                <a:ea typeface="Noto Sans KR"/>
                <a:cs typeface="Noto Sans KR"/>
              </a:rPr>
              <a:t>Config의 OffsetTime으로 분리 관리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592039-79C8-4FBE-A2A1-0E4095E6553F}"/>
              </a:ext>
            </a:extLst>
          </p:cNvPr>
          <p:cNvSpPr>
            <a:spLocks noGrp="1"/>
          </p:cNvSpPr>
          <p:nvPr/>
        </p:nvSpPr>
        <p:spPr>
          <a:xfrm>
            <a:off x="6096000" y="2952750"/>
            <a:ext cx="57150" cy="30480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DC167-8742-4DFB-95BD-A2155B22F1D0}"/>
              </a:ext>
            </a:extLst>
          </p:cNvPr>
          <p:cNvSpPr>
            <a:spLocks noGrp="1"/>
          </p:cNvSpPr>
          <p:nvPr/>
        </p:nvSpPr>
        <p:spPr>
          <a:xfrm>
            <a:off x="6324600" y="34480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1313" b="1">
                <a:solidFill>
                  <a:srgbClr val="183F63"/>
                </a:solidFill>
              </a:defRPr>
            </a:pPr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7EF109-4A31-45A3-A035-BFF33D718AC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1047750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C8D6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782E9E-6C8D-4F2B-BC6E-61BABF820775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788">
                <a:solidFill>
                  <a:srgbClr val="173042"/>
                </a:solidFill>
              </a:defRPr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18A97-004F-449B-85EF-99664D19992D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설비 Alarm · 복구 대기 · 예기치 않은 일시 정지</a:t>
            </a:r>
          </a:p>
          <a:p>
            <a:pPr algn="l">
              <a:lnSpc>
                <a:spcPct val="108000"/>
              </a:lnSpc>
              <a:spcBef>
                <a:spcPts val="16"/>
              </a:spcBef>
              <a:buNone/>
              <a:def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A3A"/>
                </a:solidFill>
                <a:latin typeface="Noto Sans KR"/>
                <a:ea typeface="Noto Sans KR"/>
                <a:cs typeface="Noto Sans KR"/>
              </a:rPr>
              <a:t>발생 시점과 지속시간이 비정형적이므로 OffsetTime 적용 제외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28A29-9CB7-47B7-9E9E-B428005F8819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4953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최소 Interlock 적용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• 함수 진입 또는 CJ 투입 전 Batch 마지막 POS 가용 여부 확인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• 미가용 시 ExecuteWaiting 유지 및 투입 보류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• 가용 확인 후 WaitTime 계산 · Executing 전환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F7653"/>
                </a:solidFill>
                <a:latin typeface="Noto Sans KR"/>
                <a:ea typeface="Noto Sans KR"/>
                <a:cs typeface="Noto Sans KR"/>
              </a:rPr>
              <a:t>→ 비정상 상태의 오투입과 공정 간섭 방지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646DA0-68E5-4C80-89AC-9FE03A9A59B7}"/>
              </a:ext>
            </a:extLst>
          </p:cNvPr>
          <p:cNvSpPr>
            <a:spLocks noGrp="1"/>
          </p:cNvSpPr>
          <p:nvPr/>
        </p:nvSpPr>
        <p:spPr>
          <a:xfrm>
            <a:off x="6705600" y="3048000"/>
            <a:ext cx="1638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13" b="1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76B29F-0FBC-D01E-14B5-05F639DB12D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33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675" b="0">
                <a:solidFill>
                  <a:srgbClr val="627483"/>
                </a:solidFill>
                <a:latin typeface="Noto Sans KR"/>
                <a:ea typeface="Noto Sans KR"/>
                <a:cs typeface="Noto Sans KR"/>
              </a:defRPr>
            </a:pPr>
            <a:r>
              <a:rPr sz="675">
                <a:solidFill>
                  <a:srgbClr val="627483"/>
                </a:solidFill>
                <a:latin typeface="Noto Sans KR"/>
                <a:ea typeface="Noto Sans KR"/>
                <a:cs typeface="Noto Sans KR"/>
              </a:rPr>
              <a:t>Hybrid  |  OffsetTime 보정 · 투입 Interlock</a:t>
            </a:r>
            <a:endParaRPr sz="750" b="0">
              <a:solidFill>
                <a:srgbClr val="62748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071230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Microsoft Office PowerPoint</Application>
  <DocSecurity>0</DocSecurity>
  <PresentationFormat>와이드스크린</PresentationFormat>
  <Paragraphs>130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동호 임</cp:lastModifiedBy>
  <cp:revision>1</cp:revision>
  <dcterms:created xsi:type="dcterms:W3CDTF">2026-08-24T04:48:19Z</dcterms:created>
  <dcterms:modified xsi:type="dcterms:W3CDTF">2026-08-24T04:57:58Z</dcterms:modified>
</cp:coreProperties>
</file>